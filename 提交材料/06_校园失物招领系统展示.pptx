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2bf97dd1b44a3c" /><Relationship Type="http://schemas.openxmlformats.org/officeDocument/2006/relationships/extended-properties" Target="/docProps/app.xml" Id="R9c1d6c176f7f4045" /><Relationship Type="http://schemas.openxmlformats.org/officeDocument/2006/relationships/officeDocument" Target="/ppt/presentation.xml" Id="R9e8ad99276784b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e3a3c2ea114121"/>
  </p:sldMasterIdLst>
  <p:notesMasterIdLst>
    <p:notesMasterId xmlns:r="http://schemas.openxmlformats.org/officeDocument/2006/relationships" r:id="Rddee0bc64ea54030"/>
  </p:notesMasterIdLst>
  <p:sldIdLst>
    <p:sldId xmlns:r="http://schemas.openxmlformats.org/officeDocument/2006/relationships" id="256" r:id="Rbee10c297cc54ba3"/>
    <p:sldId xmlns:r="http://schemas.openxmlformats.org/officeDocument/2006/relationships" id="257" r:id="Rcb72378f9bd04ef4"/>
    <p:sldId xmlns:r="http://schemas.openxmlformats.org/officeDocument/2006/relationships" id="258" r:id="Rc22ba7d0c3aa4025"/>
    <p:sldId xmlns:r="http://schemas.openxmlformats.org/officeDocument/2006/relationships" id="259" r:id="Rb35ccdf36be64089"/>
    <p:sldId xmlns:r="http://schemas.openxmlformats.org/officeDocument/2006/relationships" id="260" r:id="R99ee5edb48a6492a"/>
    <p:sldId xmlns:r="http://schemas.openxmlformats.org/officeDocument/2006/relationships" id="261" r:id="Rf74a18b05f734389"/>
    <p:sldId xmlns:r="http://schemas.openxmlformats.org/officeDocument/2006/relationships" id="262" r:id="R6587153e72a04072"/>
    <p:sldId xmlns:r="http://schemas.openxmlformats.org/officeDocument/2006/relationships" id="263" r:id="R594792b6b01d435a"/>
    <p:sldId xmlns:r="http://schemas.openxmlformats.org/officeDocument/2006/relationships" id="264" r:id="R506e28780cbc46e2"/>
    <p:sldId xmlns:r="http://schemas.openxmlformats.org/officeDocument/2006/relationships" id="265" r:id="Re52a84cd174840f4"/>
    <p:sldId xmlns:r="http://schemas.openxmlformats.org/officeDocument/2006/relationships" id="266" r:id="R5e69803bbc1841c5"/>
    <p:sldId xmlns:r="http://schemas.openxmlformats.org/officeDocument/2006/relationships" id="267" r:id="R26509896f5444cc2"/>
    <p:sldId xmlns:r="http://schemas.openxmlformats.org/officeDocument/2006/relationships" id="268" r:id="R117711a01fa04989"/>
    <p:sldId xmlns:r="http://schemas.openxmlformats.org/officeDocument/2006/relationships" id="269" r:id="R644da4ae171b47e9"/>
    <p:sldId xmlns:r="http://schemas.openxmlformats.org/officeDocument/2006/relationships" id="270" r:id="R1218ea4cb0354962"/>
    <p:sldId xmlns:r="http://schemas.openxmlformats.org/officeDocument/2006/relationships" id="271" r:id="Rbe45c4624f3d49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33acdd4a8344cd" /><Relationship Type="http://schemas.openxmlformats.org/officeDocument/2006/relationships/slideMaster" Target="/ppt/slideMasters/slideMaster1.xml" Id="R43e3a3c2ea114121" /><Relationship Type="http://schemas.openxmlformats.org/officeDocument/2006/relationships/notesMaster" Target="/ppt/notesMasters/notesMaster1.xml" Id="Rddee0bc64ea54030" /><Relationship Type="http://schemas.openxmlformats.org/officeDocument/2006/relationships/presProps" Target="/ppt/presProps.xml" Id="R41b8fc411bd84781" /><Relationship Type="http://schemas.openxmlformats.org/officeDocument/2006/relationships/tableStyles" Target="/ppt/tableStyles.xml" Id="Rca87d80d28704e58" /><Relationship Type="http://schemas.openxmlformats.org/officeDocument/2006/relationships/slide" Target="/ppt/slides/slide1.xml" Id="Rbee10c297cc54ba3" /><Relationship Type="http://schemas.openxmlformats.org/officeDocument/2006/relationships/slide" Target="/ppt/slides/slide2.xml" Id="Rcb72378f9bd04ef4" /><Relationship Type="http://schemas.openxmlformats.org/officeDocument/2006/relationships/slide" Target="/ppt/slides/slide3.xml" Id="Rc22ba7d0c3aa4025" /><Relationship Type="http://schemas.openxmlformats.org/officeDocument/2006/relationships/slide" Target="/ppt/slides/slide4.xml" Id="Rb35ccdf36be64089" /><Relationship Type="http://schemas.openxmlformats.org/officeDocument/2006/relationships/slide" Target="/ppt/slides/slide5.xml" Id="R99ee5edb48a6492a" /><Relationship Type="http://schemas.openxmlformats.org/officeDocument/2006/relationships/slide" Target="/ppt/slides/slide6.xml" Id="Rf74a18b05f734389" /><Relationship Type="http://schemas.openxmlformats.org/officeDocument/2006/relationships/slide" Target="/ppt/slides/slide7.xml" Id="R6587153e72a04072" /><Relationship Type="http://schemas.openxmlformats.org/officeDocument/2006/relationships/slide" Target="/ppt/slides/slide8.xml" Id="R594792b6b01d435a" /><Relationship Type="http://schemas.openxmlformats.org/officeDocument/2006/relationships/slide" Target="/ppt/slides/slide9.xml" Id="R506e28780cbc46e2" /><Relationship Type="http://schemas.openxmlformats.org/officeDocument/2006/relationships/slide" Target="/ppt/slides/slide10.xml" Id="Re52a84cd174840f4" /><Relationship Type="http://schemas.openxmlformats.org/officeDocument/2006/relationships/slide" Target="/ppt/slides/slide11.xml" Id="R5e69803bbc1841c5" /><Relationship Type="http://schemas.openxmlformats.org/officeDocument/2006/relationships/slide" Target="/ppt/slides/slide12.xml" Id="R26509896f5444cc2" /><Relationship Type="http://schemas.openxmlformats.org/officeDocument/2006/relationships/slide" Target="/ppt/slides/slide13.xml" Id="R117711a01fa04989" /><Relationship Type="http://schemas.openxmlformats.org/officeDocument/2006/relationships/slide" Target="/ppt/slides/slide14.xml" Id="R644da4ae171b47e9" /><Relationship Type="http://schemas.openxmlformats.org/officeDocument/2006/relationships/slide" Target="/ppt/slides/slide15.xml" Id="R1218ea4cb0354962" /><Relationship Type="http://schemas.openxmlformats.org/officeDocument/2006/relationships/slide" Target="/ppt/slides/slide16.xml" Id="Rbe45c4624f3d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1988dce97d44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dfacb03220498c" /><Relationship Type="http://schemas.openxmlformats.org/officeDocument/2006/relationships/notesMaster" Target="/ppt/notesMasters/notesMaster1.xml" Id="R2b22e2c2ae3441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5f5500817749b1" /><Relationship Type="http://schemas.openxmlformats.org/officeDocument/2006/relationships/notesMaster" Target="/ppt/notesMasters/notesMaster1.xml" Id="Rc862affca2914b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7b9002e8484280" /><Relationship Type="http://schemas.openxmlformats.org/officeDocument/2006/relationships/notesMaster" Target="/ppt/notesMasters/notesMaster1.xml" Id="R46dcce1b90d445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c18799ba8148a6" /><Relationship Type="http://schemas.openxmlformats.org/officeDocument/2006/relationships/notesMaster" Target="/ppt/notesMasters/notesMaster1.xml" Id="R6a17c1dedc1741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d030ff260249cb" /><Relationship Type="http://schemas.openxmlformats.org/officeDocument/2006/relationships/notesMaster" Target="/ppt/notesMasters/notesMaster1.xml" Id="R7b786a5b5a1d40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7391679c0a42f4" /><Relationship Type="http://schemas.openxmlformats.org/officeDocument/2006/relationships/notesMaster" Target="/ppt/notesMasters/notesMaster1.xml" Id="Rfa1faa64a5d544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dd4e063f1641d3" /><Relationship Type="http://schemas.openxmlformats.org/officeDocument/2006/relationships/notesMaster" Target="/ppt/notesMasters/notesMaster1.xml" Id="R3635edaf840641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ac5bcfe5974896" /><Relationship Type="http://schemas.openxmlformats.org/officeDocument/2006/relationships/notesMaster" Target="/ppt/notesMasters/notesMaster1.xml" Id="R9745b5fd3c7343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5964bd5b2a40bb" /><Relationship Type="http://schemas.openxmlformats.org/officeDocument/2006/relationships/notesMaster" Target="/ppt/notesMasters/notesMaster1.xml" Id="Raa153b0a6ece41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3381b2b9df4ca7" /><Relationship Type="http://schemas.openxmlformats.org/officeDocument/2006/relationships/notesMaster" Target="/ppt/notesMasters/notesMaster1.xml" Id="R6a3953379d6744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fdcb479cb94ad5" /><Relationship Type="http://schemas.openxmlformats.org/officeDocument/2006/relationships/notesMaster" Target="/ppt/notesMasters/notesMaster1.xml" Id="R084f0d54e5c44c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63ce7a666d460d" /><Relationship Type="http://schemas.openxmlformats.org/officeDocument/2006/relationships/notesMaster" Target="/ppt/notesMasters/notesMaster1.xml" Id="R1a9a88b6916e4f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8bf3b964904c02" /><Relationship Type="http://schemas.openxmlformats.org/officeDocument/2006/relationships/notesMaster" Target="/ppt/notesMasters/notesMaster1.xml" Id="Rc550c092b0c94d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5cc55b23a84feb" /><Relationship Type="http://schemas.openxmlformats.org/officeDocument/2006/relationships/notesMaster" Target="/ppt/notesMasters/notesMaster1.xml" Id="R38eef589148a41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4618d0093b43e3" /><Relationship Type="http://schemas.openxmlformats.org/officeDocument/2006/relationships/notesMaster" Target="/ppt/notesMasters/notesMaster1.xml" Id="R88438abf03de44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8531582fdf4779" /><Relationship Type="http://schemas.openxmlformats.org/officeDocument/2006/relationships/notesMaster" Target="/ppt/notesMasters/notesMaster1.xml" Id="Ra3795ac260f746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大家好，我们小组汇报校园失物招领管理系统。本次重点展示程序设计、数据库、测试与部署材料。成员施维、杨雯茜、任婉月、郭浩洁、焦世佳。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校园卡、耳机、钥匙等物品信息分散在群聊和线下公告中。系统把发布、查询与认领过程放在一个入口，并保留状态。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游客看公开信息，学生只维护本人发布和申请，管理员维护全站。后端检查角色和归属，不以隐藏按钮代替权限校验。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前端使用Vue2和Element UI，Axios访问/api。Spring Boot处理JWT、字段和业务状态校验，JdbcTemplate执行参数化SQL，MySQL存储持久数据。源码均可用IDEA查看。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这是实际程序的演示界面。大厅可按中文关键词、分类、地点、状态和实际发生时间检索；游客看公开描述，登录后查看联系方式。截图来源：本项目实际WAR运行，work/home-desktop.png。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讲稿补充后，申请必须先交给招领人核对，再由管理员最终审核。正常完结保留记录，不自动物理删除。拒绝同样有处理人和说明可查。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JWT含用户编号与user/admin角色，校验签名、过期和数据库账号状态，非管理员访问管理接口返回403。Cookie为HttpOnly。密码采用BCrypt随机盐，默认cost=10；不是对密码简单做MD5。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数据库保持五张核心表，不为每一个界面单独建表。user表实际名app_user。关系包括一名用户多件物品、一个分类多件物品、一个物品多份申请，以及公告的发布人与业务关联。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公告分为系统通知、招领提醒和认领结果。发布管理员必填，提醒和结果至少关联物品或分类。公开页面只展示有效期内的启用公告。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并发审批是关键风险。先锁物品再锁申请，批准前核对pending、open和招领人confirmed。通过、物品完结、其他申请驳回在同一事务完成。两个线程同时审核的自动测试仅允许一人成功。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目前实现参数化LIKE，支持中文子串与空格多关键词，不声称已经使用全文搜索引擎。物品发生时间和发布时间区分，起止条件可组合。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工程根目录用IDEA打开。frontend是前端，backend是后端，SQL在Workbench执行，WAR通过脚本运行。不要把Vue源码双击打开就当作网站运行。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本次Maven自动测试18项通过。另在本机MySQL8.0.18隔离实例真实运行SQL与业务，不使用H2冒充MySQL。原3306密码未知且未修改。浏览器完整流程此前已通过。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GitHub仓库为Wenxi-Yang/campus-lost-found。Pages可发布showcase介绍页，GitHub Actions可自动构建测试并提供WAR，但不能持续运行Java服务和MySQL。完整系统需要服务器、域名和HTTPS，当前不要宣称已完成公网业务上线。来源：https://docs.github.com/en/pages/getting-started-with-github-pages/what-is-github-pages；https://docs.github.com/en/actions/tutorials/build-and-test-code/java-with-mave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第8周提交程序设计文档，第12周提交测试、部署与用户手册；另附数据库设计、工程导览和本展示PPT。建议演示顺序是大厅查询、学生申请、招领人确认、管理员审核和结果查看。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已实现统一发布、查询、认领确认、管理员审核、公告和统计；完成自动测试及独立MySQL真实验收。后续完成GitHub授权和Pages发布，以及正式后端服务器、域名、HTTPS和跨电脑共享数据验收。小组分工由团队根据实际工作填写，不虚构成员已完成的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248557f6b40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ad48b39624b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46072643f40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d19f27dee49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322ac028947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efd08e70440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984265-3266-4029-ADF8-1EBE848662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0BEB12-1DAD-4ED6-BD05-318740217C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37363D-BC7A-4040-B543-34C271CCC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077EEE-28F1-431C-AFB2-97253EAABD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C4EF06-28A1-44DC-9F34-5F4D702FA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8AE9FF-9129-4A09-9D74-61EDA2318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0BF9A4-38D8-4B28-ADC1-60894A3DF7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049CDD-521F-49FB-A94F-2169D5F06A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E0EFA0-E393-47F3-9DF5-F932646ADE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A96A89-A8A1-4CFA-9386-A87D6C5F9A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d0c1da73834594" /><Relationship Type="http://schemas.openxmlformats.org/officeDocument/2006/relationships/slideLayout" Target="/ppt/slideLayouts/slideLayout1.xml" Id="R34f5043ab03440c6" /><Relationship Type="http://schemas.openxmlformats.org/officeDocument/2006/relationships/slideLayout" Target="/ppt/slideLayouts/slideLayout2.xml" Id="Rcbd4d5d5001e407f" /><Relationship Type="http://schemas.openxmlformats.org/officeDocument/2006/relationships/slideLayout" Target="/ppt/slideLayouts/slideLayout3.xml" Id="R4e79e0940e6b4512" /><Relationship Type="http://schemas.openxmlformats.org/officeDocument/2006/relationships/slideLayout" Target="/ppt/slideLayouts/slideLayout4.xml" Id="R91917da280fc4a36" /><Relationship Type="http://schemas.openxmlformats.org/officeDocument/2006/relationships/slideLayout" Target="/ppt/slideLayouts/slideLayout5.xml" Id="Reb54fe18829f4f3b" /><Relationship Type="http://schemas.openxmlformats.org/officeDocument/2006/relationships/slideLayout" Target="/ppt/slideLayouts/slideLayout6.xml" Id="R6f673434f30c42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f5043ab03440c6"/>
    <p:sldLayoutId xmlns:r="http://schemas.openxmlformats.org/officeDocument/2006/relationships" id="2147483650" r:id="Rcbd4d5d5001e407f"/>
    <p:sldLayoutId xmlns:r="http://schemas.openxmlformats.org/officeDocument/2006/relationships" id="2147483651" r:id="R4e79e0940e6b4512"/>
    <p:sldLayoutId xmlns:r="http://schemas.openxmlformats.org/officeDocument/2006/relationships" id="2147483652" r:id="R91917da280fc4a36"/>
    <p:sldLayoutId xmlns:r="http://schemas.openxmlformats.org/officeDocument/2006/relationships" id="2147483653" r:id="Reb54fe18829f4f3b"/>
    <p:sldLayoutId xmlns:r="http://schemas.openxmlformats.org/officeDocument/2006/relationships" id="2147483654" r:id="R6f673434f30c42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6fcf3206904261" /><Relationship Type="http://schemas.openxmlformats.org/officeDocument/2006/relationships/notesSlide" Target="/ppt/notesSlides/notesSlide1.xml" Id="Re59ad3f823ec47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078138dda94e74" /><Relationship Type="http://schemas.openxmlformats.org/officeDocument/2006/relationships/notesSlide" Target="/ppt/notesSlides/notesSlide2.xml" Id="R3cf24e70d42547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a90d313db4f3b" /><Relationship Type="http://schemas.openxmlformats.org/officeDocument/2006/relationships/notesSlide" Target="/ppt/notesSlides/notesSlide3.xml" Id="R25c6deb3c0a14d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b2a0afd80f4dc1" /><Relationship Type="http://schemas.openxmlformats.org/officeDocument/2006/relationships/notesSlide" Target="/ppt/notesSlides/notesSlide4.xml" Id="Rb1401bd5874e4e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158df530f4881" /><Relationship Type="http://schemas.openxmlformats.org/officeDocument/2006/relationships/image" Target="/ppt/media/image.png" Id="Rfd98b3f8bf3246a2" /><Relationship Type="http://schemas.openxmlformats.org/officeDocument/2006/relationships/notesSlide" Target="/ppt/notesSlides/notesSlide5.xml" Id="R2cfb478ba75448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0b2817d804571" /><Relationship Type="http://schemas.openxmlformats.org/officeDocument/2006/relationships/notesSlide" Target="/ppt/notesSlides/notesSlide6.xml" Id="Raad87e8ebd1d4a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5cc2d6ada4eb7" /><Relationship Type="http://schemas.openxmlformats.org/officeDocument/2006/relationships/notesSlide" Target="/ppt/notesSlides/notesSlide7.xml" Id="R2b23aa23fa1541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50e88b73f445b" /><Relationship Type="http://schemas.openxmlformats.org/officeDocument/2006/relationships/notesSlide" Target="/ppt/notesSlides/notesSlide8.xml" Id="R8e50b9a7b13644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fd62f95f0435d" /><Relationship Type="http://schemas.openxmlformats.org/officeDocument/2006/relationships/notesSlide" Target="/ppt/notesSlides/notesSlide9.xml" Id="R44fe894c20ad4b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89a7c25584dfc" /><Relationship Type="http://schemas.openxmlformats.org/officeDocument/2006/relationships/notesSlide" Target="/ppt/notesSlides/notesSlide10.xml" Id="R89808707264b42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98071db264b55" /><Relationship Type="http://schemas.openxmlformats.org/officeDocument/2006/relationships/notesSlide" Target="/ppt/notesSlides/notesSlide11.xml" Id="Rf28dc34cc7bf46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fc496f2124dd5" /><Relationship Type="http://schemas.openxmlformats.org/officeDocument/2006/relationships/notesSlide" Target="/ppt/notesSlides/notesSlide12.xml" Id="R42ab949bac7348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444efda784a31" /><Relationship Type="http://schemas.openxmlformats.org/officeDocument/2006/relationships/notesSlide" Target="/ppt/notesSlides/notesSlide13.xml" Id="R8509511ef7a14e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4b9695cf64ddb" /><Relationship Type="http://schemas.openxmlformats.org/officeDocument/2006/relationships/notesSlide" Target="/ppt/notesSlides/notesSlide14.xml" Id="Rc921c6c2796442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eb2fd1209424a" /><Relationship Type="http://schemas.openxmlformats.org/officeDocument/2006/relationships/notesSlide" Target="/ppt/notesSlides/notesSlide15.xml" Id="R12bc740648da40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cd4ce79454a4d" /><Relationship Type="http://schemas.openxmlformats.org/officeDocument/2006/relationships/notesSlide" Target="/ppt/notesSlides/notesSlide16.xml" Id="Red271face07c4c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36772BA-E67D-4966-B652-A1751A83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rPr>
              <a:t>WEB 应用开发 · 程序设计与测试部署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6AE7E53-6E00-49C7-AA98-E1DB5DAC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rPr>
              <a:t>校园失物招领管理系统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BA80AD1-0503-404A-9896-039F8E7F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E540123-DE56-4DB5-A669-67C333F5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7067CB2-077E-4380-B092-CB8A226A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rPr>
              <a:t>程序设计  /  数据库  /  测试与部署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8F5F0D0-8931-458B-9043-9F5BB14E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5EFE3"/>
                </a:solidFill>
                <a:latin typeface="Microsoft YaHei"/>
                <a:ea typeface="Microsoft YaHei"/>
                <a:cs typeface="Microsoft YaHei"/>
              </a:rPr>
              <a:t>施维  杨雯茜  任婉月  郭浩洁  焦世佳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3EE1BEA-534E-4EEE-B9A2-CB67D102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B4C8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4C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C8B5"/>
                </a:solidFill>
                <a:latin typeface="Microsoft YaHei"/>
                <a:ea typeface="Microsoft YaHei"/>
                <a:cs typeface="Microsoft YaHei"/>
              </a:rPr>
              <a:t>第8周与第12周提交材料 · 2026.10</a:t>
            </a:r>
          </a:p>
        </p:txBody>
      </p:sp>
    </p:spTree>
    <p:extLst>
      <p:ext uri="{BB962C8B-B14F-4D97-AF65-F5344CB8AC3E}">
        <p14:creationId xmlns:p14="http://schemas.microsoft.com/office/powerpoint/2010/main" val="1572867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1484C56-B461-4CD3-9582-321E8952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01  REQUIREMENTS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6E0730-5797-4CA3-8C3C-9AA729CB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B26D0C4-08D9-4289-916F-86EE2C4F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E7AEC4-E33D-48D6-8313-98E37BF8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2E262E4-859C-40D5-9583-2649696A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信息分散：群聊与线下公告缺少统一入口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2315F03-C3BF-4E45-920E-6288D384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查询困难：名称、地点、时间不能组合筛选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6AB5AF7-0961-41DA-8929-376F5198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状态不清：是否认领、由谁审核难以追踪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03AD9EC-3D1A-4843-9A68-FABFDB38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统一发布  →  可查询  →  可追踪</a:t>
            </a:r>
          </a:p>
        </p:txBody>
      </p:sp>
    </p:spTree>
    <p:extLst>
      <p:ext uri="{BB962C8B-B14F-4D97-AF65-F5344CB8AC3E}">
        <p14:creationId xmlns:p14="http://schemas.microsoft.com/office/powerpoint/2010/main" val="440300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8C15EDC-9BD4-4D03-9283-9A23B4B0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02  ROLES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7FD4C1A-AF7D-4B13-B082-1E1F91D8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三类用户的操作边界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5448EC4-F909-41E8-9C7D-CE5ECF3F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EAD0EBA-1936-42D0-9298-E19E7E49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32B4B-B315-4C50-A5EE-1596BDF17C69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619750"/>
                <a:gridCol w="3448050"/>
              </a:tblGrid>
              <a:tr h="8334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可执行操作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数据边界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游客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浏览、筛选、查看公告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联系方式登录后可见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 user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发布、申请、核对收到的认领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本人发布与申请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 admin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用户、物品、审核、分类和公告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全站维护与统计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783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2A05052-A101-4226-8F2E-008C712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03  ARCHITECTURE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161603-A66C-4F0F-AD31-E8D614B7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程序架构与调用关系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C5029C-B965-403A-A13F-22AA6055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84CC78-597B-437B-AE04-BFF2E3FE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E60482A-7E0B-43E2-9AF7-9664ACBB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浏览器 Vue 2 + Element UI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1A10FBB-340D-4ED4-8589-888770F9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Axios /api → Spring Boot Controller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AD1E581-E0B1-4761-9812-EE3A6D3F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Auth + Input → Store / JdbcTemplate → MySQL 8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DD68A99-A40B-4E23-9A4E-87921B11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开发：8080 + 8081   |   发布：页面与API合并到WAR</a:t>
            </a:r>
          </a:p>
        </p:txBody>
      </p:sp>
    </p:spTree>
    <p:extLst>
      <p:ext uri="{BB962C8B-B14F-4D97-AF65-F5344CB8AC3E}">
        <p14:creationId xmlns:p14="http://schemas.microsoft.com/office/powerpoint/2010/main" val="1026174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415274A4-898E-4B8F-BF6E-19D2BF3E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04  IMPLEMENTATION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BEB7C3B-9702-4B8E-9550-6BFE696B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寻物大厅的实际界面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32AC545-F1B8-40CB-A378-75C26045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55954FA-2BA9-495C-8AAD-693645D3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9DB9B-BC05-42DD-AA7B-8123AFD79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8b3f8bf3246a2"/>
          <a:stretch xmlns:a="http://schemas.openxmlformats.org/drawingml/2006/main"/>
        </p:blipFill>
        <p:spPr>
          <a:xfrm xmlns:a="http://schemas.openxmlformats.org/drawingml/2006/main">
            <a:off x="1584289" y="1762125"/>
            <a:ext cx="4432372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101761E-024F-44C7-88EA-407AD6B4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失物与招领统一展示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F316A17-1EDC-4DA6-B108-972D195A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3370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中文关键词与组合筛选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840164B-C201-4918-962C-A99F6EDC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详情保留发生及更新时间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26F88043-CBE1-4901-B02E-B9BF8B72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010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默认展示进行中信息</a:t>
            </a:r>
          </a:p>
        </p:txBody>
      </p:sp>
    </p:spTree>
    <p:extLst>
      <p:ext uri="{BB962C8B-B14F-4D97-AF65-F5344CB8AC3E}">
        <p14:creationId xmlns:p14="http://schemas.microsoft.com/office/powerpoint/2010/main" val="208032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2CD5515-E6C4-475E-ADDF-8F7A457B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05  WORKFLOW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C03129-E2A8-47A7-A853-B768A850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完整认领流程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4971E8A-FB9B-45E4-8994-497440A8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F6BFDB-706C-4CED-A94C-C2EDA2CD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7D4ED-7530-44E4-ABCB-3AA1B0F19133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2952750"/>
                <a:gridCol w="5591175"/>
              </a:tblGrid>
              <a:tr h="6588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发布招领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拾获物品的同学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found + open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提交申请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可能的失主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特征说明 + pending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核对确认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该物品发布者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confirmed或拒绝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最终审核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approved / rejected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完结归档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系统事务更新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物品finished，保留记录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422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1A4AD322-526A-4F14-8022-52813478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06  SECURITY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51C864B-813F-4DCB-930A-818B5461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JWT权限与密码保存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98BB29A-6D0A-49EF-BF3D-9572F8ED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247C62B-A792-447F-985E-6F25731D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2CA78B2-65F1-4465-B9A7-F0E95E55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0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JWT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A628624-DBAE-4B02-84A6-E194C664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签名 + 有效期 + user/admin</a:t>
            </a:r>
          </a:p>
          <a:p xmlns:a="http://schemas.openxmlformats.org/drawingml/2006/main">
            <a:pPr>
              <a:def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每次访问复查启用状态与角色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7662AC7-F89A-4B63-A67A-41E0E994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0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BCrypt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12D188C-7169-4416-AAF0-C24AF15D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随机盐嵌入哈希</a:t>
            </a:r>
          </a:p>
          <a:p xmlns:a="http://schemas.openxmlformats.org/drawingml/2006/main">
            <a:pPr>
              <a:def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默认 cost = 10，支持调整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C45F5A2-E576-4F47-AAAD-C767AD71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本人数据归属校验与参数化SQL仍由后端执行</a:t>
            </a:r>
          </a:p>
        </p:txBody>
      </p:sp>
    </p:spTree>
    <p:extLst>
      <p:ext uri="{BB962C8B-B14F-4D97-AF65-F5344CB8AC3E}">
        <p14:creationId xmlns:p14="http://schemas.microsoft.com/office/powerpoint/2010/main" val="1203906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3CE4723-8F95-44B9-BE58-21707757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07  DATABASE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853F222-7A89-44C5-BD3E-47653419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数据库的五张核心表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034E3E2-6904-4C8F-9BBF-B5A7EF99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35B6276-DA1F-49F8-B218-1FEC0FA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89EE8-706A-45B2-86BA-369DA2349E31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333875"/>
                <a:gridCol w="468630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关键关联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app_user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学号、手机号、角色与启用状态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发布人、申请人、审核人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category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分类名称、排序、是否启用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item与notice的分类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item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失物/招领、发生时间与状态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user_id、category_id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claim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特征、招领人确认与管理员审核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item_id、user_id、reviewer_id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notice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公告用途、有效期和关联信息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publisher_id、item_id、category_id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2221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AF4CE46-1AC1-4FD9-9FE6-89A72D2D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08  NOTICE DESIGN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2A3A07-F247-493C-ADD9-2ADAF39B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公告栏的作用与表关联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6491B3F-CA86-4857-A44F-D98563AD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9A1F16E-4B1C-47C0-AC2D-FC328BB1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549F0-68EA-4A73-AED8-638465EDA960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333750"/>
                <a:gridCol w="5162550"/>
              </a:tblGrid>
              <a:tr h="58340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关联对象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publisher_id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app_user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追踪发布管理员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item_id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item，可空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进入关联物品详情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category_id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category，可空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查看相关分类物品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2AA5E43-CF54-4F94-BC00-D525C4FB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发布时间 published_at    生效时间 starts_at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CE72E4F-02D7-495E-BF41-CE00C489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截止时间 expires_at    创建与更新时间 created_at / updated_at</a:t>
            </a:r>
          </a:p>
        </p:txBody>
      </p:sp>
    </p:spTree>
    <p:extLst>
      <p:ext uri="{BB962C8B-B14F-4D97-AF65-F5344CB8AC3E}">
        <p14:creationId xmlns:p14="http://schemas.microsoft.com/office/powerpoint/2010/main" val="18998260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EB3F2B6-0528-4A08-B62F-F4A16FBD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09  CONSISTENCY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94AC1BE-C0AE-463F-9F87-E1472543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审核事务防止重复认领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C8C521F-7343-46E1-83C6-562F0334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57E9A-73F7-4393-9BA2-B2BC8A43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8C98958-6D76-431E-8173-9D138173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1  锁定物品 → 锁定申请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865AE07-BD75-4EF5-BA95-245E0247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2  检查 pending + open + confirmed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A8E2B8B-EC03-4327-9CCC-52A14A77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3  批准申请 → 完结物品 → 驳回其他待审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AF8B075-CDF9-49F6-955F-9AC41FBC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4  同一事务提交，保留审核时间与意见</a:t>
            </a:r>
          </a:p>
        </p:txBody>
      </p:sp>
    </p:spTree>
    <p:extLst>
      <p:ext uri="{BB962C8B-B14F-4D97-AF65-F5344CB8AC3E}">
        <p14:creationId xmlns:p14="http://schemas.microsoft.com/office/powerpoint/2010/main" val="5439606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1CB7322-9256-4CD1-8DE4-6460E47D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10  SEARCH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599C71F-2E7A-47F6-8033-8D3B2D10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中文检索与时间条目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84EDD0-31E4-4536-8232-9198B593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E75C61F-4C92-47AF-97E7-72EAE50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BB39D-DF0C-4E8E-A534-11D8778CB88C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输入或条件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系统含义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雨伞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匹配包含雨伞的标题或描述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黑色 雨伞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两个词都须匹配，可在不同字段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 + 地点 + 状态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与关键词一起筛选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发生时间 从 / 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按occurred_at区间查找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646B1B7-3452-4831-958D-32DA610D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全文索引、中文语义分词和独立搜索服务属于后续扩展</a:t>
            </a:r>
          </a:p>
        </p:txBody>
      </p:sp>
    </p:spTree>
    <p:extLst>
      <p:ext uri="{BB962C8B-B14F-4D97-AF65-F5344CB8AC3E}">
        <p14:creationId xmlns:p14="http://schemas.microsoft.com/office/powerpoint/2010/main" val="240226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CF103A3-3AEE-4CAA-9B59-2C8DA8DE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11  PROJECT GUIDE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270ED7-07B9-4458-8772-0625504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工程文件用什么打开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CC6B76-A2E5-43B2-98C2-4531E601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222EA8A-9763-4432-907E-2A999498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D369F-A438-483E-8737-8F23E4AA7453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2952750"/>
                <a:gridCol w="3543300"/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文件或目录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frontend/src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Vue前端页面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IDEA / VS Code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backend/src/main/java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Java后端逻辑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IDEA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database/*.sql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表结构、演示和校验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MySQL Workbench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release/*.war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完整发布包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启动脚本 / java -jar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提交材料/*.docx、*.pptx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提交与汇报材料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 / PowerPoint / WPS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82431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4303D129-31C0-4587-AC96-76D9548D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12  VERIFICATION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EBCB365-CD65-410F-8378-F6BBFC97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自动测试与真实数据库验收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99E9203-4625-4C4E-AF1C-FCE33051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0AD9F8C-5674-47E2-B65F-7D67702E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09116D3-9E0B-498F-9252-3991B944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71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18 / 18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749D6E8-5613-40F4-ACAD-6BFB08E3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自动测试通过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1ECECCB-EB59-4C06-BE60-376DD395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MySQL 8.0.18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B24A2A1-60ED-42A4-BD95-8E53BC87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建表、重复导入、JWT登录</a:t>
            </a:r>
          </a:p>
          <a:p xmlns:a="http://schemas.openxmlformats.org/drawingml/2006/main">
            <a:pPr>
              <a:def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认领审核、物品状态、公告关联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59F6959-B7B4-438E-B537-F91512CC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原3306数据库未修改  |  公网服务器部署仍需另行验收</a:t>
            </a:r>
          </a:p>
        </p:txBody>
      </p:sp>
    </p:spTree>
    <p:extLst>
      <p:ext uri="{BB962C8B-B14F-4D97-AF65-F5344CB8AC3E}">
        <p14:creationId xmlns:p14="http://schemas.microsoft.com/office/powerpoint/2010/main" val="1136167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E63BC4A-FA3A-4B49-92BB-0C980A6E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13  DEPLOYMENT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860501-25D4-41A4-B984-B6B6D23C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GitHub展示与完整上线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351D30-119C-4E29-8676-08620BC2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A3BDEDA-1468-4D5E-B3AA-51A80F22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8C652-ABD4-4D2B-BA54-5658BC3A47DD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619625"/>
                <a:gridCol w="3590925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业务数据库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T w="9525">
                      <a:solidFill>
                        <a:srgbClr val="CFDAD1"/>
                      </a:solidFill>
                      <a:prstDash val="solid"/>
                    </a:lnT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126B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GitHub仓库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源代码、文档、版本记录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不负责托管MySQL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Pages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项目介绍与静态展示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无共享认领业务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Actions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构建、测试、产生WAR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测试库，不是在线数据库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服务器 + HTTPS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AD1"/>
                      </a:solidFill>
                      <a:prstDash val="solid"/>
                    </a:lnL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运行Java和共享MySQL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多电脑访问同一数据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AD1"/>
                      </a:solidFill>
                      <a:prstDash val="solid"/>
                    </a:lnR>
                    <a:lnB w="9525">
                      <a:solidFill>
                        <a:srgbClr val="CFDAD1"/>
                      </a:solidFill>
                      <a:prstDash val="soli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DBD6B90-EC2C-41FD-BBF2-7ADD97D6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仓库：Wenxi-Yang / campus-lost-found</a:t>
            </a:r>
          </a:p>
        </p:txBody>
      </p:sp>
    </p:spTree>
    <p:extLst>
      <p:ext uri="{BB962C8B-B14F-4D97-AF65-F5344CB8AC3E}">
        <p14:creationId xmlns:p14="http://schemas.microsoft.com/office/powerpoint/2010/main" val="466636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4DE16F27-E54F-49C7-B927-EF88A9E3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14  HANDOFF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8B77747-4427-4EC7-B156-6A196EDE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提交材料与演示顺序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3015932-7D32-4072-AD15-97AE5A50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D4B9007-FAF6-4412-ADFC-FB263BE4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BF9DC32-F4F4-4AA2-9C57-7ADBD99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第8周：程序设计文档；数据库设计作为附件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D549F58-B03F-4755-89D3-5BCEBD01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第12周：测试报告、部署维护说明、用户手册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C28FA27-D944-48BD-8277-7FF9EBED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先读：工程文件导览；再按角色演示认领闭环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3A62496-1681-4568-A35E-6826C98C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演示：查询 → 申请 → 确认 → 审核 → 查看结果</a:t>
            </a:r>
          </a:p>
        </p:txBody>
      </p:sp>
    </p:spTree>
    <p:extLst>
      <p:ext uri="{BB962C8B-B14F-4D97-AF65-F5344CB8AC3E}">
        <p14:creationId xmlns:p14="http://schemas.microsoft.com/office/powerpoint/2010/main" val="21439948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8ABDCFE-0A85-4023-B854-3D38F00E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15  NEXT STEPS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68C55AB-6198-43D0-9781-57E071A6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已实现与后续工作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143DD26-646D-4F2F-8124-D5E3819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校园失物招领管理系统  |  WEB应用开发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2CAD91-CB0A-442C-BD52-B63420A0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7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2381EA5-EC56-4813-A9CD-6B71EF1A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已完成：功能闭环、文档、数据库与测试证据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B0A4C28-33A3-452A-BAFB-BC19E5DD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继续完成：GitHub授权与公开展示页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FAF9796-55E2-471B-8AE8-EE240962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A35"/>
                </a:solidFill>
                <a:latin typeface="Microsoft YaHei"/>
                <a:ea typeface="Microsoft YaHei"/>
                <a:cs typeface="Microsoft YaHei"/>
              </a:rPr>
              <a:t>完整上线：服务器、MySQL、HTTPS与多电脑验收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8366D1C-E190-4087-AC83-692A9CFC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6B60"/>
                </a:solidFill>
                <a:latin typeface="Microsoft YaHei"/>
                <a:ea typeface="Microsoft YaHei"/>
                <a:cs typeface="Microsoft YaHei"/>
              </a:rPr>
              <a:t>谢谢老师和同学们</a:t>
            </a:r>
          </a:p>
        </p:txBody>
      </p:sp>
    </p:spTree>
    <p:extLst>
      <p:ext uri="{BB962C8B-B14F-4D97-AF65-F5344CB8AC3E}">
        <p14:creationId xmlns:p14="http://schemas.microsoft.com/office/powerpoint/2010/main" val="1591508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2026-10-17T05:58:09.7550000Z</dcterms:created>
  <dcterms:modified xsi:type="dcterms:W3CDTF">2026-10-17T05:58:09.7550000Z</dcterms:modified>
</coreProperties>
</file>